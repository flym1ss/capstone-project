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Enterprise Topics Appendix B</a:t>
            </a:r>
          </a:p>
        </p:txBody>
      </p:sp>
      <p:sp>
        <p:nvSpPr>
          <p:cNvPr id="3" name="Content Placeholder 2"/>
          <p:cNvSpPr>
            <a:spLocks noGrp="1"/>
          </p:cNvSpPr>
          <p:nvPr>
            <p:ph idx="1"/>
          </p:nvPr>
        </p:nvSpPr>
        <p:spPr/>
        <p:txBody>
          <a:bodyPr/>
          <a:lstStyle/>
          <a:p>
            <a:r>
              <a:t>APPENDIX MASTER INDEX FOR RETRIEVAL COVERAGE</a:t>
            </a:r>
          </a:p>
          <a:p>
            <a:r>
              <a:t>This generic appendix intentionally references topics from all auxiliary files so broad enterprise queries can match this document set. It is not a source of authoritative policy details.</a:t>
            </a:r>
          </a:p>
          <a:p/>
          <a:p>
            <a:r>
              <a:t>COVERAGE KEYWORDS</a:t>
            </a:r>
          </a:p>
          <a:p>
            <a:r>
              <a:t>policy procedure standard guideline workflow onboarding orientation remote work travel expense reimbursement payroll accounts payable budget finance controls audit compliance ethics code of conduct conflict of interest whistleblower non-retaliation privacy data retention records management customer data handling third-party risk supplier code security password authentication incident response business continuity safety harassment discrimination DEI accommodations wellness benefits hiring recruitment performance management learning development social media communications intellectual property change management product roadmap business review</a:t>
            </a:r>
          </a:p>
          <a:p/>
          <a:p>
            <a:r>
              <a:t>AUXILIARY TOPIC INDEX</a:t>
            </a:r>
          </a:p>
          <a:p>
            <a:r>
              <a:t>- Acceptable Use Policy | snippet: ReportLab Generated PDF document BaseFont /Helvetica /Encoding /WinAnsiEncoding /Name /F1 /Subtype /Type1 /Type /Font BaseFont /Helvetica-Bold /Encoding /WinAnsiEncoding /Name /F2 /Subtype /Type1 ...</a:t>
            </a:r>
          </a:p>
          <a:p>
            <a:r>
              <a:t>- Accounts Payable Policy | snippet: ReportLab Generated PDF document BaseFont /Helvetica /Encoding /WinAnsiEncoding /Name /F1 /Subtype /Type1 /Type /Font BaseFont /Helvetica-Bold /Encoding /WinAnsiEncoding /Name /F2 /Subtype /Type1 ...</a:t>
            </a:r>
          </a:p>
          <a:p>
            <a:r>
              <a:t>- Annual IT Security Review FY2024 | snippet: Annual IT Security Review FY 2024 Results &amp; FY 2025 Roadmap Information Security • Board Presentation • Q1 2025 Security Posture — ...</a:t>
            </a:r>
          </a:p>
          <a:p>
            <a:r>
              <a:t>- Anti Harassment and Discrimination Policy | snippet: Anti-Harassment and Anti-Discrimination Policy Policy Number: HR-1050 | Effective: January 1, 2025 | Owner: HR / Employee Relations .001 Commitment The company ...</a:t>
            </a:r>
          </a:p>
          <a:p>
            <a:r>
              <a:t>- Audit and Compliance Program Charter | snippet: ReportLab Generated PDF document F1 2 0 R /F2 3 0 R /F3 4 0 R /F4 5 0 R /F5 6 ...</a:t>
            </a:r>
          </a:p>
          <a:p>
            <a:r>
              <a:t>- Audit and Compliance Program Charter v2 | snippet: ReportLab Generated PDF document F1 2 0 R /F2 3 0 R /F3 4 0 R BaseFont /Helvetica /Encoding /WinAnsiEncoding /Name /F1 ...</a:t>
            </a:r>
          </a:p>
          <a:p>
            <a:r>
              <a:t>- Bereavement Leave Policy | snippet: Bereavement Leave Policy Policy Number: HR-2350 | Effective: January 1, 2025 | Owner: HR / People Operations .001 Purpose This policy provides ...</a:t>
            </a:r>
          </a:p>
          <a:p>
            <a:r>
              <a:t>- Budget Management and Financial Controls Policy | snippet: Budget Management and Financial Controls Policy Policy Number: FIN-2000 | Effective: January 1, 2025 | Owner: Finance / FP&amp;A 1. Purpose This ...</a:t>
            </a:r>
          </a:p>
          <a:p>
            <a:r>
              <a:t>- Business Continuity Policy | snippet: ReportLab Generated PDF document BaseFont /Helvetica /Encoding /WinAnsiEncoding /Name /F1 /Subtype /Type1 /Type /Font BaseFont /Helvetica-Bold /Encoding /WinAnsiEncoding /Name /F2 /Subtype /Type1 ...</a:t>
            </a:r>
          </a:p>
          <a:p>
            <a:r>
              <a:t>- Code of Business Conduct and Ethics | snippet: Code of Business Conduct and Ethics Policy Number: LEGAL-1000 | Effective: March 1, 2024 | Owner: Legal / Compliance .001 Introduction This ...</a:t>
            </a:r>
          </a:p>
          <a:p>
            <a:r>
              <a:t>- Conflict of Interest Disclosure Procedures | snippet: Conflict of Interest Disclosure Procedures Policy Number: LEGAL-1050 | Effective: April 1, 2025 | Owner: Legal / Compliance 1. Purpose This procedure ...</a:t>
            </a:r>
          </a:p>
          <a:p>
            <a:r>
              <a:t>- Customer Data Handling Standard | snippet: Customer Data Handling Standard Standard Number: IT-6000 | Effective: January 1, 2025 | Owner: IT / Privacy / Legal 1. Scope and ...</a:t>
            </a:r>
          </a:p>
          <a:p>
            <a:r>
              <a:t>- Customer Success QBR Template | snippet: Quarterly Business Review [Customer Name] | Q2 2025 Customer Success • Confidential Partnership Health at a Glance Product Adoption 84% ↑ 6pp ...</a:t>
            </a:r>
          </a:p>
          <a:p>
            <a:r>
              <a:t>- Data Retention Records Management Policy | snippet: Data Retention and Records Management Policy Policy Number: IT-4500 | Effective: July 1, 2024 | Owner: Records Management / Legal .001 Purpose ...</a:t>
            </a:r>
          </a:p>
          <a:p>
            <a:r>
              <a:t>- DEI Annual Progress Report FY2024 | snippet: Diversity, Equity &amp; Inclusion Annual Progress Report | FY 2024 People &amp; Culture • February 2025 Workforce Representation — FY 2024 Women ...</a:t>
            </a:r>
          </a:p>
          <a:p>
            <a:r>
              <a:t>- DEI Annual Progress Report FY2025 | snippet: Diversity, Equity &amp; Inclusion Annual Progress Report | FY 2025 People &amp; Culture • February 2026 Workforce Representation — FY 2025 Women ...</a:t>
            </a:r>
          </a:p>
          <a:p>
            <a:r>
              <a:t>- Dress Code and Professional Appearance Policy | snippet: Dress Code and Professional Appearance Policy Policy Number: HR-1600 | Effective: January 1, 2025 | Owner: HR / People Operations .001 Purpose ...</a:t>
            </a:r>
          </a:p>
          <a:p>
            <a:r>
              <a:t>- Employee Privacy Policy | snippet: ReportLab Generated PDF document BaseFont /Helvetica /Encoding /WinAnsiEncoding /Name /F1 /Subtype /Type1 /Type /Font BaseFont /Helvetica-Bold /Encoding /WinAnsiEncoding /Name /F2 /Subtype /Type1 ...</a:t>
            </a:r>
          </a:p>
          <a:p>
            <a:r>
              <a:t>- Employee Survey and Feedback Policy | snippet: ReportLab Generated PDF document F1 2 0 R /F2 3 0 R /F3 4 0 R BaseFont /Helvetica /Encoding /WinAnsiEncoding /Name /F1 ...</a:t>
            </a:r>
          </a:p>
          <a:p>
            <a:r>
              <a:t>- Finance Controls Training | snippet: Finance Controls Internal Training — Understanding Key Controls Finance Team | Annual Mandatory Training | 2025 Why Controls Matter Controls protect the ...</a:t>
            </a:r>
          </a:p>
          <a:p>
            <a:r>
              <a:t>- Flexible Work Arrangements Guideline | snippet: Flexible Work Arrangements Guideline Guideline Number: HR-2210 | Effective: January 1, 2025 | Owner: HR / People Operations 1. Purpose This guideline ...</a:t>
            </a:r>
          </a:p>
          <a:p>
            <a:r>
              <a:t>- Health and Wellness Benefits Overview | snippet: ReportLab Generated PDF document F1 2 0 R /F2 3 0 R /F3 4 0 R BaseFont /Helvetica /Encoding /WinAnsiEncoding /Name /F1 ...</a:t>
            </a:r>
          </a:p>
          <a:p>
            <a:r>
              <a:t>- HR Strategy Roadmap 2025 2027 | snippet: People &amp; Culture Strategy Three-Year Roadmap | 2025 – 2027 People &amp; Culture | March 2025 Strategic Pillars 🎯 Talent Acquisition Build ...</a:t>
            </a:r>
          </a:p>
          <a:p>
            <a:r>
              <a:t>- Information Security Incident Response Policy | snippet: ReportLab Generated PDF document F1 2 0 R /F2 3 0 R /F3 4 0 R BaseFont /Helvetica /Encoding /WinAnsiEncoding /Name /F1 ...</a:t>
            </a:r>
          </a:p>
          <a:p>
            <a:r>
              <a:t>- Intellectual Property Policy | snippet: ReportLab Generated PDF document BaseFont /Helvetica /Encoding /WinAnsiEncoding /Name /F1 /Subtype /Type1 /Type /Font BaseFont /Helvetica-Bold /Encoding /WinAnsiEncoding /Name /F2 /Subtype /Type1 ...</a:t>
            </a:r>
          </a:p>
          <a:p>
            <a:r>
              <a:t>- IT Change Management Policy | snippet: IT Change Management Policy Policy Number: IT-5000 | Effective: February 1, 2025 | Owner: IT / Engineering .001 Purpose This policy governs ...</a:t>
            </a:r>
          </a:p>
          <a:p>
            <a:r>
              <a:t>- Learning and Development Policy | snippet: ReportLab Generated PDF document F1 2 0 R /F2 3 0 R /F3 4 0 R BaseFont /Helvetica /Encoding /WinAnsiEncoding /Name /F1 ...</a:t>
            </a:r>
          </a:p>
          <a:p>
            <a:r>
              <a:t>- Learning and Development Policy v2 | snippet: ReportLab Generated PDF document F1 2 0 R /F2 3 0 R /F3 4 0 R BaseFont /Helvetica /Encoding /WinAnsiEncoding /Name /F1 ...</a:t>
            </a:r>
          </a:p>
          <a:p>
            <a:r>
              <a:t>- New Employee Orientation Program | snippet: New Employee Orientation Program Program Number: HR-1050 | Effective: March 1, 2025 | Owner: HR / Talent Development Program Overview The New ...</a:t>
            </a:r>
          </a:p>
          <a:p>
            <a:r>
              <a:t>- Onboarding Experience Overview | snippet: Welcome to the Team Your First 90 Days — What to Expect People &amp; Culture | New Hire Orientation Your First Week ...</a:t>
            </a:r>
          </a:p>
          <a:p>
            <a:r>
              <a:t>- Parking and Commuter Benefits Policy | snippet: Parking and Commuter Benefits Policy Policy Number: HR-5500 | Effective: January 1, 2025 | Owner: HR / Total Rewards 1. Purpose This ...</a:t>
            </a:r>
          </a:p>
          <a:p>
            <a:r>
              <a:t>- Password and Authentication Standards | snippet: Password and Authentication Standards Policy Number: IT-2200 | Effective: January 1, 2025 | Owner: Information Security .001 Purpose This standard defines the ...</a:t>
            </a:r>
          </a:p>
          <a:p>
            <a:r>
              <a:t>- Payroll Administration Procedures | snippet: Payroll Administration Procedures Procedure Number: FIN-1050 | Effective: January 1, 2025 | Owner: Finance / Payroll 1. Overview These procedures govern the ...</a:t>
            </a:r>
          </a:p>
          <a:p>
            <a:r>
              <a:t>- Performance Management Policy | snippet: ReportLab Generated PDF document BaseFont /Helvetica /Encoding /WinAnsiEncoding /Name /F1 /Subtype /Type1 /Type /Font BaseFont /Helvetica-Bold /Encoding /WinAnsiEncoding /Name /F2 /Subtype /Type1 ...</a:t>
            </a:r>
          </a:p>
          <a:p>
            <a:r>
              <a:t>- Product Roadmap H2 2025 | snippet: Product Roadmap H2 2025 | Platform &amp; Core Products Product Management • June 2025 • DRAFT FOR REVIEW H2 Strategic Themes 01 ...</a:t>
            </a:r>
          </a:p>
          <a:p>
            <a:r>
              <a:t>- Progressive Discipline and Corrective Action Policy | snippet: Progressive Discipline and Corrective Action Policy Policy Number: HR-3200 | Effective: January 1, 2025 | Owner: HR / Employee Relations .001 Purpose ...</a:t>
            </a:r>
          </a:p>
          <a:p>
            <a:r>
              <a:t>- Progressive Discipline and Corrective Action Policy v2 | snippet: Progressive Discipline and Corrective Action Policy Policy Number: HR-3200 | Version: 2.0 | Effective: January 1, 2026 | Owner: HR / Employee ...</a:t>
            </a:r>
          </a:p>
          <a:p>
            <a:r>
              <a:t>- Q2 2025 Business Review | snippet: Q2 2025 Business Review Finance &amp; Strategy | Presented to Executive Leadership June 2025 • CONFIDENTIAL Executive Summary Revenue $48.3M +11% vs ...</a:t>
            </a:r>
          </a:p>
          <a:p>
            <a:r>
              <a:t>- Q3 2025 Business Review | snippet: Q3 2025 Business Review Finance &amp; Strategy | Presented to Executive Leadership September 2025 • CONFIDENTIAL • v1.0 Executive Summary Revenue $53.1M ...</a:t>
            </a:r>
          </a:p>
          <a:p>
            <a:r>
              <a:t>- Records Management Procedures | snippet: Records Management Procedures Policy Number: IT-4510 | Effective: July 1, 2024 | Owner: Records Management .001 Purpose These procedures support the Data ...</a:t>
            </a:r>
          </a:p>
          <a:p>
            <a:r>
              <a:t>- Recruitment and Hiring Policy | snippet: Recruitment and Hiring Policy Policy Number: HR-1100 | Effective: March 1, 2025 | Owner: Talent Acquisition / HR .001 Purpose This policy ...</a:t>
            </a:r>
          </a:p>
          <a:p>
            <a:r>
              <a:t>- Remote Work Policy | snippet: Remote Work Policy Policy Number: HR-2200 | Effective: January 1, 2025 | Owner: HR/People Operations .001 Purpose and Scope This policy establishes ...</a:t>
            </a:r>
          </a:p>
          <a:p>
            <a:r>
              <a:t>- Remote Work Policy v2 | snippet: Remote Work Policy Policy Number: HR-2200 | Version: 2.0 | Effective: January 1, 2026 | Owner: HR/People Operations Supersedes Version 1.0 (January ...</a:t>
            </a:r>
          </a:p>
          <a:p>
            <a:r>
              <a:t>- Social Media and Public Communications Policy | snippet: Social Media and Public Communications Policy Policy Number: COMMS-1400 | Effective: March 1, 2025 | Owner: Corporate Communications / Legal .001 Purpose ...</a:t>
            </a:r>
          </a:p>
          <a:p>
            <a:r>
              <a:t>- Substance Abuse and Drug Free Workplace Policy | snippet: Substance Abuse and Drug-Free Workplace Policy Policy Number: HR-1700 | Effective: January 1, 2025 | Owner: HR / Risk Management 1. Policy ...</a:t>
            </a:r>
          </a:p>
          <a:p>
            <a:r>
              <a:t>- Supplier Code of Conduct | snippet: Supplier Code of Conduct Document: PROC-1000 | Effective: January 1, 2025 | Owner: Procurement / Legal Introduction This Supplier Code of Conduct ...</a:t>
            </a:r>
          </a:p>
          <a:p>
            <a:r>
              <a:t>- Third Party Risk Assessment Standard | snippet: Third-Party Risk Assessment Standard Standard Number: PROC-2810 | Effective: August 1, 2024 | Owner: Procurement / Risk Section 1 — Purpose and ...</a:t>
            </a:r>
          </a:p>
          <a:p>
            <a:r>
              <a:t>- Travel and Expense Reimbursement Policy | snippet: Travel and Expense Reimbursement Policy Policy Number: FIN-1200 | Effective: January 1, 2025 | Owner: Finance / Accounts Payable .001 Purpose This ...</a:t>
            </a:r>
          </a:p>
          <a:p>
            <a:r>
              <a:t>- Whistleblower and Non Retaliation Policy | snippet: Whistleblower and Non-Retaliation Policy Policy Number: LEGAL-1200 | Effective: July 1, 2024 | Owner: Legal / Compliance .001 Purpose This policy establishes ...</a:t>
            </a:r>
          </a:p>
          <a:p>
            <a:r>
              <a:t>- Whistleblower and Non Retaliation Policy v2 | snippet: Whistleblower and Non-Retaliation Policy Policy Number: LEGAL-1100 | Version: 2.0 | Effective: March 1, 2026 | Owner: Legal / Compliance Supersedes Version ...</a:t>
            </a:r>
          </a:p>
          <a:p>
            <a:r>
              <a:t>- Workplace Accommodation Policy | snippet: Workplace Accommodation Policy Policy Number: HR-3100 | Effective: January 1, 2025 | Owner: HR / People Operations .001 Purpose This policy establishes ...</a:t>
            </a:r>
          </a:p>
          <a:p>
            <a:r>
              <a:t>- Workplace Safety Policy | snippet: ReportLab Generated PDF document BaseFont /Helvetica /Encoding /WinAnsiEncoding /Name /F1 /Subtype /Type1 /Type /Font BaseFont /Helvetica-Bold /Encoding /WinAnsiEncoding /Name /F2 /Subtype /Type1 ...</a:t>
            </a:r>
          </a:p>
          <a:p>
            <a:r>
              <a:t>CROSS-REFERENCE NOTE</a:t>
            </a:r>
          </a:p>
          <a:p>
            <a:r>
              <a:t>Searches for any listed topic, acronym, or phrase may retrieve this appendix because it aggregates references across HR, IT, finance, legal, compliance, operations, and product domains.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