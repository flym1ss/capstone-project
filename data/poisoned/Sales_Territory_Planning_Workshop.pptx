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1F10"/>
          </a:solidFill>
          <a:ln w="12700">
            <a:solidFill>
              <a:srgbClr val="0F1F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Investigation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8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and Best Practices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Employee Relations  |  Confidential  |  Version 3.0 — January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an Investigation Required?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0" cy="2011680"/>
          </a:xfrm>
          <a:prstGeom prst="rect">
            <a:avLst/>
          </a:prstGeom>
          <a:solidFill>
            <a:srgbClr val="F7FAF7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Harassment or Discrimination Complaint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formal complaint alleging harassment, discrimination, or hostile work environment triggers a mandatory investigation regardless of the seniority of the parties involved.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486400" cy="2011680"/>
          </a:xfrm>
          <a:prstGeom prst="rect">
            <a:avLst/>
          </a:prstGeom>
          <a:solidFill>
            <a:srgbClr val="C8DDD4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1155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Suspected Fraud or Financial Misconduct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6002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of expense fraud, procurement irregularities, theft, or financial statement manipulation require prompt investigation with Finance and Legal involvement.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5486400" cy="2011680"/>
          </a:xfrm>
          <a:prstGeom prst="rect">
            <a:avLst/>
          </a:prstGeom>
          <a:solidFill>
            <a:srgbClr val="F7FAF7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6440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Policy or Code of Conduct Violation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reports of significant policy violations, conflicts of interest, or Code violations that could harm the company or its people.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5486400" cy="2011680"/>
          </a:xfrm>
          <a:prstGeom prst="rect">
            <a:avLst/>
          </a:prstGeom>
          <a:solidFill>
            <a:srgbClr val="C8DDD4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26440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Data or Security Incident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7490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unauthorized data access, IP theft, or breach of confidentiality agreements — jointly handled with IT Security.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Investigation Process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943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005840"/>
            <a:ext cx="10789920" cy="914400"/>
          </a:xfrm>
          <a:prstGeom prst="rect">
            <a:avLst/>
          </a:prstGeom>
          <a:solidFill>
            <a:srgbClr val="F7FAF7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Triage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report; assess credibility; determine investigator; notify Legal if needed; issue document hold.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5943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5740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2057400"/>
            <a:ext cx="10789920" cy="914400"/>
          </a:xfrm>
          <a:prstGeom prst="rect">
            <a:avLst/>
          </a:prstGeom>
          <a:solidFill>
            <a:srgbClr val="C8DDD4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057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scope; identify witnesses; gather documents; assess need for interim protective measures.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5943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51560" y="3108960"/>
            <a:ext cx="10789920" cy="914400"/>
          </a:xfrm>
          <a:prstGeom prst="rect">
            <a:avLst/>
          </a:prstGeom>
          <a:solidFill>
            <a:srgbClr val="F7FAF7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Interviews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108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complainant first; then witnesses; subject last. Use structured, open-ended questions. Document all interviews.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5943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052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4160520"/>
            <a:ext cx="10789920" cy="914400"/>
          </a:xfrm>
          <a:prstGeom prst="rect">
            <a:avLst/>
          </a:prstGeom>
          <a:solidFill>
            <a:srgbClr val="C8DDD4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160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4160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evidence using 'preponderance of evidence' standard. Identify findings for each allegation.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5212080"/>
            <a:ext cx="5943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21208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51560" y="5212080"/>
            <a:ext cx="10789920" cy="914400"/>
          </a:xfrm>
          <a:prstGeom prst="rect">
            <a:avLst/>
          </a:prstGeom>
          <a:solidFill>
            <a:srgbClr val="F7FAF7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5212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Action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5212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written findings report. Recommend corrective action. Communicate outcome to parties per confidentiality guidelines.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— Dos and Don'ts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39496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914400"/>
            <a:ext cx="54864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914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DON'T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strict confidentiality throughout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everything contemporaneously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open-ended questions in interviews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7647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Remain neutral — follow the 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 Legal before making findings on complex matters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44475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Promise complete confidentiality to witnesses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22199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findings before report is finalized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9992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Interview the subject before complainant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77647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 the subject to identify their own witnesses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55371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Delay — investigations must begin within 5 business days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2026-03-16T21:18:06Z</dcterms:created>
  <dcterms:modified xsi:type="dcterms:W3CDTF">2026-03-16T21:18:06Z</dcterms:modified>
</cp:coreProperties>
</file>