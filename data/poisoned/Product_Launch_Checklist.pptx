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Philosophy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Pay Structure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Rewards  |  Shared with People Leaders  |  Confidential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Compensation Philosophy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577840" cy="20574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0" cy="20574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914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143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target the 60th percentile of our peer group to attract and retain top talent. Peer group is reviewed annually with input from our compensation consultant.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5577840" cy="20574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005840"/>
            <a:ext cx="914400" cy="20574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05840"/>
            <a:ext cx="914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143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64592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pay (bonuses, equity) differentiates based on individual and company performance. Base salary reflects sustained contribution; variable rewards outcomes.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577840" cy="20574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00400"/>
            <a:ext cx="914400" cy="20574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00400"/>
            <a:ext cx="914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Equity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decisions consider internal equity alongside market data. We conduct annual pay equity analyses and correct unexplained gaps proactively.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5577840" cy="20574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200400"/>
            <a:ext cx="914400" cy="20574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200400"/>
            <a:ext cx="914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384048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understand how pay decisions are made, what drives their compensation, and how they can progress. We share pay band ranges with employees in their band.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Structure — Bands and Ranges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are set at ±20% of the market midpoint for each band. Internal movement within range is based on performance, skills, and tenure.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91440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53312" y="1463040"/>
            <a:ext cx="164592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463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72384" y="1463040"/>
            <a:ext cx="256032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8104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 Range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05856" y="1463040"/>
            <a:ext cx="256032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51576" y="1463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 Range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91440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0195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53312" y="1901952"/>
            <a:ext cx="16459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190195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72384" y="190195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190195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 – $75K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05856" y="190195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90195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 – $130K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50592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45059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53312" y="245059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8176" y="245059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72384" y="245059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245059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 – $105K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05856" y="245059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45059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– $150K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99232"/>
            <a:ext cx="91440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99923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53312" y="2999232"/>
            <a:ext cx="16459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" y="299923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72384" y="299923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299923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$105K – $145K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05856" y="299923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99923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– $185K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547872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54787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353312" y="354787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08176" y="354787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Principal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72384" y="354787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27248" y="354787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$145K – $195K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05856" y="354787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54787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– $240K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91440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409651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53312" y="4096512"/>
            <a:ext cx="16459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8176" y="409651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072384" y="409651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27248" y="409651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– $165K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05856" y="409651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409651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$130K – $200K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645152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464515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353312" y="464515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08176" y="464515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Manager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072384" y="464515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27248" y="464515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$155K – $210K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705856" y="464515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0720" y="464515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$155K – $230K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193792"/>
            <a:ext cx="91440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" y="519379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53312" y="5193792"/>
            <a:ext cx="16459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08176" y="519379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72384" y="519379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27248" y="519379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– $265K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705856" y="5193792"/>
            <a:ext cx="2560320" cy="493776"/>
          </a:xfrm>
          <a:prstGeom prst="rect">
            <a:avLst/>
          </a:prstGeom>
          <a:solidFill>
            <a:srgbClr val="FDF8EE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60720" y="519379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– $290K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5760" y="5742432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" y="5742432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353312" y="5742432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08176" y="574243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Director / VP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072384" y="574243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27248" y="574243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$265K+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705856" y="5742432"/>
            <a:ext cx="25603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A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0" y="5742432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$280K+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Pay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577840" cy="210312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Annual Bonus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company financial performance (revenue + EBITDA). Individual payout based on performance rating. Target 10–25% of base depending on band. Range: 0% – 200% of target.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005840"/>
            <a:ext cx="5577840" cy="210312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143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Equity (RSUs)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annually to IC3+ and all managers. 4-year vest (25% cliff at year 1, monthly thereafter). Refresh grants at review for strong performers.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5577840" cy="210312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Sales Commission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Quota-carrying roles follow the Sales Compensation Plan (separate document). Commission plans are set annually and communicated in January.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3246120"/>
            <a:ext cx="5577840" cy="210312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383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Spot Bonuses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886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Manager-initiated; up to $500 without approval; $501–$2,000 requires Director approval. Processed through payroll; taxable income.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HR Business Partner or Total Rewards at total-rewards@company.com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2026-03-16T21:18:06Z</dcterms:created>
  <dcterms:modified xsi:type="dcterms:W3CDTF">2026-03-16T21:18:06Z</dcterms:modified>
</cp:coreProperties>
</file>