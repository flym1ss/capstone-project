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12188952" cy="914400"/>
          </a:xfrm>
          <a:prstGeom prst="rect">
            <a:avLst/>
          </a:prstGeom>
          <a:solidFill>
            <a:srgbClr val="3A1A2A"/>
          </a:solidFill>
          <a:ln w="12700">
            <a:solidFill>
              <a:srgbClr val="3A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Diversity, Equity &amp; Inclusion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Progress Report  |  FY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Culture  • 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A1020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Representation — FY 2025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303520" cy="155448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YoY: +3pp vs FY2024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5303520" cy="155448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Underrepresented Minorities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6459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126480" y="2286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YoY: +3pp vs FY2024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5303520" cy="155448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154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Disabilities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4747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65760" y="4114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YoY: +2pp vs FY2024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017520"/>
            <a:ext cx="5303520" cy="155448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154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4747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26480" y="4114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YoY: +1pp vs FY2024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A1020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 2025 Program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94960" cy="182880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539496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 Mentorship Program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1 complete: 48 pairs. 89% of mentees rated program 4/5 or above. 6 mentees promoted within 9 months of program end.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97280"/>
            <a:ext cx="5394960" cy="182880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097280"/>
            <a:ext cx="539496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1704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Pay Equity Audit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17373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gap of 1.3% identified and corrected for 34 employees. No statistically significant gaps remain. Results presented to Board Comp Committee in April.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5394960" cy="182880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108960"/>
            <a:ext cx="539496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821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🤝  New ERGs Launched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7490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Pacific Network and Disability Allies both launched in Q2. Combined membership: 187 employees. Total active ERGs now: 7.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108960"/>
            <a:ext cx="5394960" cy="182880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108960"/>
            <a:ext cx="539496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1821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Inclusive Job Descriptions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37490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bias screening deployed to 100% of new requisitions. 'Exclusionary language' flags reduced by 74% YoY.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A1020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 2026 DEI Priorities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94960" cy="182880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 Mentorship Cohort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75 pairs. Add reverse-mentoring track pairing senior leaders with early-career URMs.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097280"/>
            <a:ext cx="5394960" cy="182880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234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 Supplier Diversity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691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supplier diversity program: target 15% of new vendor spend to diverse-owned businesses by Q4.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5394960" cy="182880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46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 Manager Inclusion Index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DEI-specific questions to Manager Effectiveness Survey. Results weighted in manager performance reviews.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108960"/>
            <a:ext cx="5394960" cy="182880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246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 Representation Targets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7033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in leadership (Dir+): 45% (from 39%). URMs in leadership: 25% (from 19%). Track quarterly.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is real. The work continues.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|  dei@company.com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2026-03-16T21:43:53Z</dcterms:created>
  <dcterms:modified xsi:type="dcterms:W3CDTF">2026-03-16T21:43:53Z</dcterms:modified>
</cp:coreProperties>
</file>