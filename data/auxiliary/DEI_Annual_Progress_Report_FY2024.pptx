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Diversity, Equity &amp; Inclusion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377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Progress Report  |  FY 2024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3108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&amp; Culture  •  February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A1020"/>
          </a:solidFill>
          <a:ln w="12700">
            <a:solidFill>
              <a:srgbClr val="2A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Workforce Representation — FY 2024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303520" cy="1554480"/>
          </a:xfrm>
          <a:prstGeom prst="rect">
            <a:avLst/>
          </a:prstGeom>
          <a:solidFill>
            <a:srgbClr val="FDF5F0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25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64592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YoY: +3pp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188720"/>
            <a:ext cx="5303520" cy="1554480"/>
          </a:xfrm>
          <a:prstGeom prst="rect">
            <a:avLst/>
          </a:prstGeom>
          <a:solidFill>
            <a:srgbClr val="FDF5F0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1325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Underrepresented Minorities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0" y="164592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126480" y="22860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YoY: +2pp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5303520" cy="1554480"/>
          </a:xfrm>
          <a:prstGeom prst="rect">
            <a:avLst/>
          </a:prstGeom>
          <a:solidFill>
            <a:srgbClr val="FDF5F0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1546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with Disabilities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47472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365760" y="41148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YoY: +1pp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3017520"/>
            <a:ext cx="5303520" cy="1554480"/>
          </a:xfrm>
          <a:prstGeom prst="rect">
            <a:avLst/>
          </a:prstGeom>
          <a:solidFill>
            <a:srgbClr val="FDF5F0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31546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Veterans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347472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126480" y="41148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YoY: —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A1020"/>
          </a:solidFill>
          <a:ln w="12700">
            <a:solidFill>
              <a:srgbClr val="2A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Inclusive Hiring Funnel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0" y="1097280"/>
            <a:ext cx="6858000" cy="5943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235440" y="109728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26880" y="10972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 women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0" y="1901952"/>
            <a:ext cx="4663440" cy="59436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90195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Screen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040880" y="1901952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26880" y="190195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women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0" y="2706624"/>
            <a:ext cx="2125980" cy="59436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706624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Interview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03420" y="2706624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26880" y="2706624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 women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0" y="3511296"/>
            <a:ext cx="960120" cy="59436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511296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Extended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3511296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26880" y="3511296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women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0" y="4315968"/>
            <a:ext cx="754380" cy="59436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31596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Accepted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131820" y="4315968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26880" y="431596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 women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A1020"/>
          </a:solidFill>
          <a:ln w="12700">
            <a:solidFill>
              <a:srgbClr val="2A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DEI Programs — FY 2025 Roadmap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394960" cy="1828800"/>
          </a:xfrm>
          <a:prstGeom prst="rect">
            <a:avLst/>
          </a:prstGeom>
          <a:solidFill>
            <a:srgbClr val="FDF5F0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34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🎓  Mentorship Program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50 high-potential URMs with senior leaders. Q1 cohort launch targeting 25 pairs.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097280"/>
            <a:ext cx="5394960" cy="1828800"/>
          </a:xfrm>
          <a:prstGeom prst="rect">
            <a:avLst/>
          </a:prstGeom>
          <a:solidFill>
            <a:srgbClr val="FDF5F0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1234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 Pay Equity Audit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63640" y="169164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compensation analysis by gender and ethnicity. Results shared with Board in Q2.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108960"/>
            <a:ext cx="5394960" cy="1828800"/>
          </a:xfrm>
          <a:prstGeom prst="rect">
            <a:avLst/>
          </a:prstGeom>
          <a:solidFill>
            <a:srgbClr val="FDF5F0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2461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🤝  ERG Investment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70332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ERG budget by 30%; add 2 new ERGs (Disability Allies, Asian Pacific Network).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3108960"/>
            <a:ext cx="5394960" cy="1828800"/>
          </a:xfrm>
          <a:prstGeom prst="rect">
            <a:avLst/>
          </a:prstGeom>
          <a:solidFill>
            <a:srgbClr val="FDF5F0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32461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📋  Inclusive Job Descriptions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370332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bias screening for all new requisitions. Rollout completing Q1.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a more equitable workplace — together.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 |  dei@company.com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2026-03-16T20:40:12Z</dcterms:created>
  <dcterms:modified xsi:type="dcterms:W3CDTF">2026-03-16T20:40:12Z</dcterms:modified>
</cp:coreProperties>
</file>