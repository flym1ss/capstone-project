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17"/>
  </p:normalViewPr>
  <p:slideViewPr>
    <p:cSldViewPr snapToGrid="0">
      <p:cViewPr varScale="1">
        <p:scale>
          <a:sx n="96" d="100"/>
          <a:sy n="96" d="100"/>
        </p:scale>
        <p:origin x="118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0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31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59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42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96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603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03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45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981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2/25/26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777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49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931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748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72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84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2/25/26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051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2/25/26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3152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282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2/25/26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4316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3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2/25/26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792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258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2/25/26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784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2/25/26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050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2/25/26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4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273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2/25/26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677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2/25/26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9051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2/25/26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6608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288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007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0257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7330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9500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48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236650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74100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30100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721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15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8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55315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4323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413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6591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7137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74168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08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9371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53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  <p:sldLayoutId id="2147483728" r:id="rId28"/>
    <p:sldLayoutId id="2147483729" r:id="rId29"/>
    <p:sldLayoutId id="2147483730" r:id="rId30"/>
    <p:sldLayoutId id="2147483731" r:id="rId31"/>
    <p:sldLayoutId id="2147483732" r:id="rId32"/>
    <p:sldLayoutId id="2147483733" r:id="rId33"/>
    <p:sldLayoutId id="2147483734" r:id="rId34"/>
    <p:sldLayoutId id="2147483735" r:id="rId35"/>
    <p:sldLayoutId id="2147483736" r:id="rId36"/>
    <p:sldLayoutId id="2147483749" r:id="rId37"/>
    <p:sldLayoutId id="2147483737" r:id="rId38"/>
    <p:sldLayoutId id="2147483738" r:id="rId39"/>
    <p:sldLayoutId id="2147483739" r:id="rId40"/>
    <p:sldLayoutId id="2147483740" r:id="rId41"/>
    <p:sldLayoutId id="2147483741" r:id="rId42"/>
    <p:sldLayoutId id="2147483742" r:id="rId43"/>
    <p:sldLayoutId id="2147483743" r:id="rId44"/>
    <p:sldLayoutId id="2147483744" r:id="rId45"/>
    <p:sldLayoutId id="2147483745" r:id="rId46"/>
    <p:sldLayoutId id="2147483746" r:id="rId47"/>
    <p:sldLayoutId id="2147483747" r:id="rId48"/>
    <p:sldLayoutId id="2147483748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69C41-08F5-1335-FDAF-089DE6903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Autofit/>
          </a:bodyPr>
          <a:lstStyle/>
          <a:p>
            <a:r>
              <a:rPr lang="en-US" sz="2800" dirty="0"/>
              <a:t>CRM Data Quality &amp; Case Routing Optimization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567525-06E4-6E46-2CF4-E65C132538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>
            <a:normAutofit/>
          </a:bodyPr>
          <a:lstStyle/>
          <a:p>
            <a:r>
              <a:rPr lang="en-US" dirty="0"/>
              <a:t>Presenter: Program Team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C2CDAC-B842-EF3F-B15F-0E367A1BFE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768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B5A43-A3B8-535C-AD79-68D99793A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</a:rP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14F19-BEBF-6E03-91E6-E7AAF579C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propose a </a:t>
            </a:r>
            <a:r>
              <a:rPr lang="en-US" b="1" dirty="0"/>
              <a:t>10-week</a:t>
            </a:r>
            <a:r>
              <a:rPr lang="en-US" dirty="0"/>
              <a:t> initiative to improve </a:t>
            </a:r>
            <a:r>
              <a:rPr lang="en-US" b="1" dirty="0"/>
              <a:t>CRM data quality</a:t>
            </a:r>
            <a:r>
              <a:rPr lang="en-US" dirty="0"/>
              <a:t> and </a:t>
            </a:r>
            <a:r>
              <a:rPr lang="en-US" b="1" dirty="0"/>
              <a:t>case routing</a:t>
            </a:r>
            <a:r>
              <a:rPr lang="en-US" dirty="0"/>
              <a:t> to reduce rework and accelerate customer resolution. </a:t>
            </a:r>
          </a:p>
          <a:p>
            <a:r>
              <a:rPr lang="en-US" dirty="0"/>
              <a:t>Expected outcomes: </a:t>
            </a:r>
            <a:r>
              <a:rPr lang="en-US" b="1" dirty="0"/>
              <a:t>higher First Contact Resolution (FCR)</a:t>
            </a:r>
            <a:r>
              <a:rPr lang="en-US" dirty="0"/>
              <a:t>, lower </a:t>
            </a:r>
            <a:r>
              <a:rPr lang="en-US" b="1" dirty="0"/>
              <a:t>Average Handle Time (AHT)</a:t>
            </a:r>
            <a:r>
              <a:rPr lang="en-US" dirty="0"/>
              <a:t>, improved </a:t>
            </a:r>
            <a:r>
              <a:rPr lang="en-US" b="1" dirty="0"/>
              <a:t>SLA attainment</a:t>
            </a:r>
            <a:r>
              <a:rPr lang="en-US" dirty="0"/>
              <a:t>, and better reporting accuracy. </a:t>
            </a:r>
          </a:p>
          <a:p>
            <a:r>
              <a:rPr lang="en-US" dirty="0"/>
              <a:t>Approach: rapid diagnostic, targeted fixes (taxonomy + validations + routing rules), pilot, then scale with governance. </a:t>
            </a:r>
          </a:p>
          <a:p>
            <a:r>
              <a:rPr lang="en-US" dirty="0"/>
              <a:t>Decision requested: approve scope, timeline, and resourcing to start </a:t>
            </a:r>
            <a:r>
              <a:rPr lang="en-US" b="1" dirty="0"/>
              <a:t>03/11/2026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4867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7E37A-1058-D1C0-E9AB-A5CBE24A7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0B06F-6B2B-FBDE-6524-41C0F4A68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92D050"/>
                </a:solidFill>
              </a:rPr>
              <a:t>Current challenges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en-US" sz="1800" dirty="0"/>
              <a:t>Inconsistent case categories and free-text fields cause </a:t>
            </a:r>
            <a:r>
              <a:rPr lang="en-US" sz="1800" b="1" dirty="0"/>
              <a:t>misrouted tickets</a:t>
            </a:r>
            <a:r>
              <a:rPr lang="en-US" sz="1800" dirty="0"/>
              <a:t> and repeat touches.</a:t>
            </a:r>
          </a:p>
          <a:p>
            <a:r>
              <a:rPr lang="en-US" sz="1800" dirty="0"/>
              <a:t>Duplicate customer records and missing mandatory fields reduce agent efficiency and reporting reliability.</a:t>
            </a:r>
          </a:p>
          <a:p>
            <a:r>
              <a:rPr lang="en-US" sz="1800" dirty="0"/>
              <a:t>Routing rules have grown organically; limited documentation and testing increases regression risk.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92D050"/>
                </a:solidFill>
              </a:rPr>
              <a:t>Observed impacts </a:t>
            </a:r>
          </a:p>
          <a:p>
            <a:r>
              <a:rPr lang="en-US" sz="1800" dirty="0"/>
              <a:t>~25% of cases require at least one transfer</a:t>
            </a:r>
          </a:p>
          <a:p>
            <a:r>
              <a:rPr lang="en-US" sz="1800" dirty="0"/>
              <a:t>Backlog spikes after product releases</a:t>
            </a:r>
          </a:p>
          <a:p>
            <a:r>
              <a:rPr lang="en-US" sz="1800" dirty="0"/>
              <a:t>Leaders lack confidence in trend reporting and root-cause insights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650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C6511-3172-D13A-5C57-49E426845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</a:rPr>
              <a:t>Goals, Objectives, and Success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84876-E102-0C1A-8561-306F5A942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92D050"/>
                </a:solidFill>
              </a:rPr>
              <a:t>Business objectives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en-US" sz="1800" dirty="0"/>
              <a:t>Reduce avoidable transfers and rework</a:t>
            </a:r>
          </a:p>
          <a:p>
            <a:r>
              <a:rPr lang="en-US" sz="1800" dirty="0"/>
              <a:t>Improve customer experience and operational efficiency</a:t>
            </a:r>
          </a:p>
          <a:p>
            <a:r>
              <a:rPr lang="en-US" sz="1800" dirty="0"/>
              <a:t>Establish sustainable data governance for CRM hygiene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92D050"/>
                </a:solidFill>
              </a:rPr>
              <a:t>Target success metrics </a:t>
            </a:r>
          </a:p>
          <a:p>
            <a:r>
              <a:rPr lang="en-US" sz="1800" dirty="0"/>
              <a:t>FCR: </a:t>
            </a:r>
            <a:r>
              <a:rPr lang="en-US" sz="1800" b="1" dirty="0"/>
              <a:t>62% → 72%</a:t>
            </a:r>
            <a:endParaRPr lang="en-US" sz="1800" dirty="0"/>
          </a:p>
          <a:p>
            <a:r>
              <a:rPr lang="en-US" sz="1800" dirty="0"/>
              <a:t>AHT: </a:t>
            </a:r>
            <a:r>
              <a:rPr lang="en-US" sz="1800" b="1" dirty="0"/>
              <a:t>9.0 min → 8.0 min</a:t>
            </a:r>
            <a:endParaRPr lang="en-US" sz="1800" dirty="0"/>
          </a:p>
          <a:p>
            <a:r>
              <a:rPr lang="en-US" sz="1800" dirty="0"/>
              <a:t>Transfer rate: </a:t>
            </a:r>
            <a:r>
              <a:rPr lang="en-US" sz="1800" b="1" dirty="0"/>
              <a:t>25% → 15%</a:t>
            </a:r>
            <a:endParaRPr lang="en-US" sz="1800" dirty="0"/>
          </a:p>
          <a:p>
            <a:r>
              <a:rPr lang="en-US" sz="1800" dirty="0"/>
              <a:t>SLA attainment (24-hr response): </a:t>
            </a:r>
            <a:r>
              <a:rPr lang="en-US" sz="1800" b="1" dirty="0"/>
              <a:t>89% → 94%</a:t>
            </a:r>
            <a:endParaRPr lang="en-US" sz="1800" dirty="0"/>
          </a:p>
          <a:p>
            <a:r>
              <a:rPr lang="en-US" sz="1800" dirty="0"/>
              <a:t>“Unknown/Other” category usage: </a:t>
            </a:r>
            <a:r>
              <a:rPr lang="en-US" sz="1800" b="1" dirty="0"/>
              <a:t>18% → &lt;5%</a:t>
            </a:r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688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FDD04-F1D3-E82C-DA34-D4D222A90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</a:rPr>
              <a:t>Proposed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15DD8-4293-4C39-B204-023B8B097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92D050"/>
                </a:solidFill>
              </a:rPr>
              <a:t>In scope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en-US" sz="1800" dirty="0"/>
              <a:t>Case taxonomy redesign (categories, subcategories, definitions)</a:t>
            </a:r>
          </a:p>
          <a:p>
            <a:r>
              <a:rPr lang="en-US" sz="1800" dirty="0"/>
              <a:t>Field standardization and </a:t>
            </a:r>
            <a:r>
              <a:rPr lang="en-US" sz="1800" b="1" dirty="0"/>
              <a:t>validation rules</a:t>
            </a:r>
            <a:r>
              <a:rPr lang="en-US" sz="1800" dirty="0"/>
              <a:t> (required fields, picklists)</a:t>
            </a:r>
          </a:p>
          <a:p>
            <a:r>
              <a:rPr lang="en-US" sz="1800" dirty="0"/>
              <a:t>Routing rules optimization (skill-based routing, exception handling)</a:t>
            </a:r>
          </a:p>
          <a:p>
            <a:r>
              <a:rPr lang="en-US" sz="1800" dirty="0"/>
              <a:t>Duplicate record triage approach (rules + workflows; limited cleanup)</a:t>
            </a:r>
          </a:p>
          <a:p>
            <a:r>
              <a:rPr lang="en-US" sz="1800" dirty="0"/>
              <a:t>Reporting enhancements (core KPI definitions + dashboards)</a:t>
            </a:r>
          </a:p>
          <a:p>
            <a:r>
              <a:rPr lang="en-US" sz="1800" dirty="0"/>
              <a:t>Governance design (owners, cadence, change control)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92D050"/>
                </a:solidFill>
              </a:rPr>
              <a:t>Out of scope (for this phase)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en-US" sz="1800" dirty="0"/>
              <a:t>Full CRM platform migration</a:t>
            </a:r>
          </a:p>
          <a:p>
            <a:r>
              <a:rPr lang="en-US" sz="1800" dirty="0"/>
              <a:t>Contact center telephony replacement</a:t>
            </a:r>
          </a:p>
          <a:p>
            <a:r>
              <a:rPr lang="en-US" sz="1800" dirty="0"/>
              <a:t>Enterprise master data management (MDM) implementation</a:t>
            </a:r>
          </a:p>
          <a:p>
            <a:r>
              <a:rPr lang="en-US" sz="1800" dirty="0"/>
              <a:t>Large-scale historical data remediation beyond agreed rules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400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A4D1A-8667-A2DE-9CB6-B23253719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</a:rPr>
              <a:t>Proposed Approach and Workplan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6BA85-9C77-7542-DE58-E434F9EB8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92D050"/>
                </a:solidFill>
              </a:rPr>
              <a:t>Phase 1: Discover &amp; Diagnose (Weeks 1–2)</a:t>
            </a:r>
            <a:endParaRPr lang="en-US" sz="1600" dirty="0">
              <a:solidFill>
                <a:srgbClr val="92D050"/>
              </a:solidFill>
            </a:endParaRPr>
          </a:p>
          <a:p>
            <a:r>
              <a:rPr lang="en-US" sz="1600" dirty="0"/>
              <a:t>Stakeholder interviews (Ops, CRM admin, Analytics, Compliance)</a:t>
            </a:r>
          </a:p>
          <a:p>
            <a:r>
              <a:rPr lang="en-US" sz="1600" dirty="0"/>
              <a:t>Data profiling (completeness, duplicates, category usage)</a:t>
            </a:r>
          </a:p>
          <a:p>
            <a:r>
              <a:rPr lang="en-US" sz="1600" dirty="0"/>
              <a:t>Baseline KPIs and pain-point quantification</a:t>
            </a:r>
            <a:br>
              <a:rPr lang="en-US" sz="1600" dirty="0"/>
            </a:br>
            <a:r>
              <a:rPr lang="en-US" sz="1600" b="1" dirty="0"/>
              <a:t>Deliverables:</a:t>
            </a:r>
            <a:r>
              <a:rPr lang="en-US" sz="1600" dirty="0"/>
              <a:t> diagnostic readout, baseline KPI pack, prioritized backlog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solidFill>
                  <a:srgbClr val="92D050"/>
                </a:solidFill>
              </a:rPr>
              <a:t>Phase 2: Design (Weeks 3–4)</a:t>
            </a:r>
            <a:endParaRPr lang="en-US" sz="1600" dirty="0">
              <a:solidFill>
                <a:srgbClr val="92D050"/>
              </a:solidFill>
            </a:endParaRPr>
          </a:p>
          <a:p>
            <a:r>
              <a:rPr lang="en-US" sz="1600" dirty="0"/>
              <a:t>Taxonomy design workshops + definitions</a:t>
            </a:r>
          </a:p>
          <a:p>
            <a:r>
              <a:rPr lang="en-US" sz="1600" dirty="0"/>
              <a:t>Validation and routing rule design; test scenarios</a:t>
            </a:r>
            <a:br>
              <a:rPr lang="en-US" sz="1600" dirty="0"/>
            </a:br>
            <a:r>
              <a:rPr lang="en-US" sz="1600" b="1" dirty="0"/>
              <a:t>Deliverables:</a:t>
            </a:r>
            <a:r>
              <a:rPr lang="en-US" sz="1600" dirty="0"/>
              <a:t> taxonomy dictionary, rules design spec, test plan</a:t>
            </a:r>
            <a:endParaRPr lang="en-US" sz="1600" b="1" dirty="0"/>
          </a:p>
          <a:p>
            <a:endParaRPr lang="en-US" sz="1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BFC52-23C1-4A2C-B47A-8BB28DB4DE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92D050"/>
                </a:solidFill>
              </a:rPr>
              <a:t>Phase 3: Build &amp; Pilot (Weeks 5–7)</a:t>
            </a:r>
            <a:endParaRPr lang="en-US" sz="1600" dirty="0">
              <a:solidFill>
                <a:srgbClr val="92D050"/>
              </a:solidFill>
            </a:endParaRPr>
          </a:p>
          <a:p>
            <a:r>
              <a:rPr lang="en-US" sz="1600" dirty="0"/>
              <a:t>Configure fields/validations/routing in sandbox</a:t>
            </a:r>
          </a:p>
          <a:p>
            <a:r>
              <a:rPr lang="en-US" sz="1600" dirty="0"/>
              <a:t>Pilot with 1–2 queues; agent feedback loop</a:t>
            </a:r>
            <a:br>
              <a:rPr lang="en-US" sz="1600" dirty="0"/>
            </a:br>
            <a:r>
              <a:rPr lang="en-US" sz="1600" b="1" dirty="0"/>
              <a:t>Deliverables:</a:t>
            </a:r>
            <a:r>
              <a:rPr lang="en-US" sz="1600" dirty="0"/>
              <a:t> configured solution, pilot results, refined rules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solidFill>
                  <a:srgbClr val="92D050"/>
                </a:solidFill>
              </a:rPr>
              <a:t>Phase 4: Deploy &amp; Stabilize (Weeks 8–10)</a:t>
            </a:r>
            <a:endParaRPr lang="en-US" sz="1600" dirty="0">
              <a:solidFill>
                <a:srgbClr val="92D050"/>
              </a:solidFill>
            </a:endParaRPr>
          </a:p>
          <a:p>
            <a:r>
              <a:rPr lang="en-US" sz="1600" dirty="0"/>
              <a:t>Production release + </a:t>
            </a:r>
            <a:r>
              <a:rPr lang="en-US" sz="1600" dirty="0" err="1"/>
              <a:t>hypercare</a:t>
            </a:r>
            <a:endParaRPr lang="en-US" sz="1600" dirty="0"/>
          </a:p>
          <a:p>
            <a:r>
              <a:rPr lang="en-US" sz="1600" dirty="0"/>
              <a:t>Dashboard rollout + governance launch</a:t>
            </a:r>
            <a:br>
              <a:rPr lang="en-US" sz="1600" dirty="0"/>
            </a:br>
            <a:r>
              <a:rPr lang="en-US" sz="1600" b="1" dirty="0"/>
              <a:t>Deliverables:</a:t>
            </a:r>
            <a:r>
              <a:rPr lang="en-US" sz="1600" dirty="0"/>
              <a:t> release notes, training artifacts, governance charter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37342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EACFA-B573-52F0-54DE-264376C2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</a:rPr>
              <a:t>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A8F31-78D8-4F81-B043-4DBFE9AEE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Current-state diagnostic</a:t>
            </a:r>
            <a:r>
              <a:rPr lang="en-US" dirty="0"/>
              <a:t> and KPI baselines</a:t>
            </a:r>
          </a:p>
          <a:p>
            <a:r>
              <a:rPr lang="en-US" b="1" dirty="0"/>
              <a:t>Case taxonomy</a:t>
            </a:r>
            <a:r>
              <a:rPr lang="en-US" dirty="0"/>
              <a:t> (definitions, examples, do/don’t guidance)</a:t>
            </a:r>
          </a:p>
          <a:p>
            <a:r>
              <a:rPr lang="en-US" b="1" dirty="0"/>
              <a:t>CRM configuration package</a:t>
            </a:r>
            <a:r>
              <a:rPr lang="en-US" dirty="0"/>
              <a:t> (fields, validations, routing rules)</a:t>
            </a:r>
          </a:p>
          <a:p>
            <a:r>
              <a:rPr lang="en-US" b="1" dirty="0"/>
              <a:t>Test plan + results</a:t>
            </a:r>
            <a:r>
              <a:rPr lang="en-US" dirty="0"/>
              <a:t> (including edge cases)</a:t>
            </a:r>
          </a:p>
          <a:p>
            <a:r>
              <a:rPr lang="en-US" b="1" dirty="0"/>
              <a:t>Pilot readout</a:t>
            </a:r>
            <a:r>
              <a:rPr lang="en-US" dirty="0"/>
              <a:t> with measured impact and recommendations</a:t>
            </a:r>
          </a:p>
          <a:p>
            <a:r>
              <a:rPr lang="en-US" b="1" dirty="0"/>
              <a:t>Dashboards</a:t>
            </a:r>
            <a:r>
              <a:rPr lang="en-US" dirty="0"/>
              <a:t> for FCR, AHT, SLA, transfers, backlog drivers</a:t>
            </a:r>
          </a:p>
          <a:p>
            <a:r>
              <a:rPr lang="en-US" b="1" dirty="0"/>
              <a:t>Governance toolkit:</a:t>
            </a:r>
            <a:r>
              <a:rPr lang="en-US" dirty="0"/>
              <a:t> RACI, change control, monthly data quality scorecard</a:t>
            </a:r>
          </a:p>
          <a:p>
            <a:r>
              <a:rPr lang="en-US" b="1" dirty="0"/>
              <a:t>Training materials:</a:t>
            </a:r>
            <a:r>
              <a:rPr lang="en-US" dirty="0"/>
              <a:t> agent quick reference + admin runbook</a:t>
            </a:r>
          </a:p>
        </p:txBody>
      </p:sp>
    </p:spTree>
    <p:extLst>
      <p:ext uri="{BB962C8B-B14F-4D97-AF65-F5344CB8AC3E}">
        <p14:creationId xmlns:p14="http://schemas.microsoft.com/office/powerpoint/2010/main" val="352453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2F5C4-DF42-E29B-A348-4317C896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</a:rPr>
              <a:t>Timeline and Milestones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3C6A0-F217-5CD8-B63C-F6023C300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Start:</a:t>
            </a:r>
            <a:r>
              <a:rPr lang="en-US" dirty="0"/>
              <a:t> 03/11/2026</a:t>
            </a:r>
            <a:br>
              <a:rPr lang="en-US" dirty="0"/>
            </a:br>
            <a:r>
              <a:rPr lang="en-US" b="1" dirty="0"/>
              <a:t>End:</a:t>
            </a:r>
            <a:r>
              <a:rPr lang="en-US" dirty="0"/>
              <a:t> 05/17/2026</a:t>
            </a:r>
          </a:p>
          <a:p>
            <a:pPr marL="0" indent="0">
              <a:buNone/>
            </a:pPr>
            <a:r>
              <a:rPr lang="en-US" b="1" dirty="0">
                <a:solidFill>
                  <a:srgbClr val="92D050"/>
                </a:solidFill>
              </a:rPr>
              <a:t>Key milestones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en-US" dirty="0"/>
              <a:t>Week 2: Diagnostic complete; backlog prioritized</a:t>
            </a:r>
          </a:p>
          <a:p>
            <a:r>
              <a:rPr lang="en-US" dirty="0"/>
              <a:t>Week 4: Taxonomy + routing/validation design approved</a:t>
            </a:r>
          </a:p>
          <a:p>
            <a:r>
              <a:rPr lang="en-US" dirty="0"/>
              <a:t>Week 7: Pilot complete; go/no-go decision for scale</a:t>
            </a:r>
          </a:p>
          <a:p>
            <a:r>
              <a:rPr lang="en-US" dirty="0"/>
              <a:t>Week 8: Production deployment begins</a:t>
            </a:r>
          </a:p>
          <a:p>
            <a:r>
              <a:rPr lang="en-US" dirty="0"/>
              <a:t>Week 10: Stabilization complete; governance in steady state</a:t>
            </a:r>
          </a:p>
        </p:txBody>
      </p:sp>
    </p:spTree>
    <p:extLst>
      <p:ext uri="{BB962C8B-B14F-4D97-AF65-F5344CB8AC3E}">
        <p14:creationId xmlns:p14="http://schemas.microsoft.com/office/powerpoint/2010/main" val="2422378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080E7-F8D2-3688-76A8-D4D6A557E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</a:rPr>
              <a:t>Assumptions, Dependencies, and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DFA12-F31B-3BB0-9454-FDFDAF1DC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92D050"/>
                </a:solidFill>
              </a:rPr>
              <a:t>Assumptions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en-US" dirty="0"/>
              <a:t>Access to CRM sandbox and production release windows</a:t>
            </a:r>
          </a:p>
          <a:p>
            <a:r>
              <a:rPr lang="en-US" dirty="0"/>
              <a:t>Ops leaders provide SMEs for workshops (2–3 </a:t>
            </a:r>
            <a:r>
              <a:rPr lang="en-US" dirty="0" err="1"/>
              <a:t>hrs</a:t>
            </a:r>
            <a:r>
              <a:rPr lang="en-US" dirty="0"/>
              <a:t>/week)</a:t>
            </a:r>
          </a:p>
          <a:p>
            <a:r>
              <a:rPr lang="en-US" dirty="0"/>
              <a:t>Analytics data sources are available and reliable enough for baseline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92D050"/>
                </a:solidFill>
              </a:rPr>
              <a:t>Dependencies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en-US" dirty="0"/>
              <a:t>Security/compliance review turnaround (target: &lt;5 business days)</a:t>
            </a:r>
          </a:p>
          <a:p>
            <a:r>
              <a:rPr lang="en-US" dirty="0"/>
              <a:t>IT change management calendar and freeze periods</a:t>
            </a:r>
          </a:p>
          <a:p>
            <a:r>
              <a:rPr lang="en-US" dirty="0"/>
              <a:t>Vendor/telephony integration constraints (if applicable)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92D050"/>
                </a:solidFill>
              </a:rPr>
              <a:t>Top risks + mitigations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en-US" dirty="0"/>
              <a:t>Stakeholder misalignment on taxonomy → structured workshops + decision log</a:t>
            </a:r>
          </a:p>
          <a:p>
            <a:r>
              <a:rPr lang="en-US" dirty="0"/>
              <a:t>Routing changes disrupt operations → phased pilot + rollback plan</a:t>
            </a:r>
          </a:p>
          <a:p>
            <a:r>
              <a:rPr lang="en-US" dirty="0"/>
              <a:t>Data quality issues larger than expected → prioritize “top drivers” first, plan Phase 2</a:t>
            </a:r>
          </a:p>
        </p:txBody>
      </p:sp>
    </p:spTree>
    <p:extLst>
      <p:ext uri="{BB962C8B-B14F-4D97-AF65-F5344CB8AC3E}">
        <p14:creationId xmlns:p14="http://schemas.microsoft.com/office/powerpoint/2010/main" val="25353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81FBD-B1A2-DD43-A7EC-A750946E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</a:rPr>
              <a:t>Commercials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7060B-AC40-65AC-BD27-DB14E9090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Estimated duration:</a:t>
            </a:r>
            <a:r>
              <a:rPr lang="en-US" dirty="0"/>
              <a:t> 10 weeks</a:t>
            </a:r>
            <a:br>
              <a:rPr lang="en-US" dirty="0"/>
            </a:br>
            <a:r>
              <a:rPr lang="en-US" b="1" dirty="0"/>
              <a:t>Estimated effort:</a:t>
            </a:r>
            <a:r>
              <a:rPr lang="en-US" dirty="0"/>
              <a:t> ~300–450 hours (blended)</a:t>
            </a:r>
            <a:br>
              <a:rPr lang="en-US" dirty="0"/>
            </a:br>
            <a:r>
              <a:rPr lang="en-US" b="1" dirty="0"/>
              <a:t>Resourcing</a:t>
            </a:r>
          </a:p>
          <a:p>
            <a:r>
              <a:rPr lang="en-US" dirty="0"/>
              <a:t>PM: 0.5 FTE</a:t>
            </a:r>
          </a:p>
          <a:p>
            <a:r>
              <a:rPr lang="en-US" dirty="0"/>
              <a:t>CRM Admin/Engineer: 0.75 FTE</a:t>
            </a:r>
          </a:p>
          <a:p>
            <a:r>
              <a:rPr lang="en-US" dirty="0"/>
              <a:t>Analyst: 0.5 FTE</a:t>
            </a:r>
          </a:p>
          <a:p>
            <a:r>
              <a:rPr lang="en-US" dirty="0"/>
              <a:t>Change Lead: 0.25 FTE</a:t>
            </a:r>
          </a:p>
          <a:p>
            <a:r>
              <a:rPr lang="en-US" dirty="0"/>
              <a:t>SMEs: 2–4 </a:t>
            </a:r>
            <a:r>
              <a:rPr lang="en-US" dirty="0" err="1"/>
              <a:t>hrs</a:t>
            </a:r>
            <a:r>
              <a:rPr lang="en-US" dirty="0"/>
              <a:t>/week (Ops + Compliance)</a:t>
            </a:r>
          </a:p>
          <a:p>
            <a:pPr marL="0" indent="0">
              <a:buNone/>
            </a:pPr>
            <a:r>
              <a:rPr lang="en-US" b="1" dirty="0"/>
              <a:t>Cost drivers</a:t>
            </a:r>
            <a:endParaRPr lang="en-US" dirty="0"/>
          </a:p>
          <a:p>
            <a:r>
              <a:rPr lang="en-US" dirty="0"/>
              <a:t>Number of queues and routing complexity</a:t>
            </a:r>
          </a:p>
          <a:p>
            <a:r>
              <a:rPr lang="en-US" dirty="0"/>
              <a:t>Volume of fields/validations and integration touchpoints</a:t>
            </a:r>
          </a:p>
          <a:p>
            <a:r>
              <a:rPr lang="en-US" dirty="0"/>
              <a:t>Testing rigor and release constraints</a:t>
            </a:r>
          </a:p>
          <a:p>
            <a:r>
              <a:rPr lang="en-US" dirty="0"/>
              <a:t>*Numbers are illustrative placeholders—replace with your estimate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153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4B7D-B4FF-5BF9-7536-82BB2A16E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</a:rPr>
              <a:t>Decisions Needed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59238-E4E6-F409-2E56-764DA86EE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92D050"/>
                </a:solidFill>
              </a:rPr>
              <a:t>Decisions requested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en-US" dirty="0"/>
              <a:t>Confirm in-scope items and success metrics</a:t>
            </a:r>
          </a:p>
          <a:p>
            <a:r>
              <a:rPr lang="en-US" dirty="0"/>
              <a:t>Approve timeline (start date + pilot scope)</a:t>
            </a:r>
          </a:p>
          <a:p>
            <a:r>
              <a:rPr lang="en-US" dirty="0"/>
              <a:t>Confirm named Product Owner and SME availability</a:t>
            </a:r>
          </a:p>
          <a:p>
            <a:pPr marL="0" indent="0">
              <a:buNone/>
            </a:pPr>
            <a:r>
              <a:rPr lang="en-US" b="1" dirty="0">
                <a:solidFill>
                  <a:srgbClr val="92D050"/>
                </a:solidFill>
              </a:rPr>
              <a:t>Immediate next steps (Week 0–1)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en-US" dirty="0"/>
              <a:t>Kickoff meeting + finalize governance cadence</a:t>
            </a:r>
          </a:p>
          <a:p>
            <a:r>
              <a:rPr lang="en-US" dirty="0"/>
              <a:t>Provision access (sandbox, data extracts, reporting tools)</a:t>
            </a:r>
          </a:p>
          <a:p>
            <a:r>
              <a:rPr lang="en-US" dirty="0"/>
              <a:t>Schedule workshops (taxonomy, routing, compliance)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92D050"/>
                </a:solidFill>
              </a:rPr>
              <a:t>First 2-week outputs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en-US" dirty="0"/>
              <a:t>Baseline KPI pack + pain-point prioritization</a:t>
            </a:r>
          </a:p>
          <a:p>
            <a:r>
              <a:rPr lang="en-US" dirty="0"/>
              <a:t>Draft taxonomy v1 + quick wins list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67367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898</Words>
  <Application>Microsoft Macintosh PowerPoint</Application>
  <PresentationFormat>Widescreen</PresentationFormat>
  <Paragraphs>108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Neue Haas Grotesk Text Pro</vt:lpstr>
      <vt:lpstr>Helena</vt:lpstr>
      <vt:lpstr>CRM Data Quality &amp; Case Routing Optimization</vt:lpstr>
      <vt:lpstr>Executive Summary</vt:lpstr>
      <vt:lpstr>Problem Statement</vt:lpstr>
      <vt:lpstr>Goals, Objectives, and Success Metrics</vt:lpstr>
      <vt:lpstr>Proposed Scope</vt:lpstr>
      <vt:lpstr>Proposed Approach and Workplan</vt:lpstr>
      <vt:lpstr>Deliverables</vt:lpstr>
      <vt:lpstr>Timeline and Milestones</vt:lpstr>
      <vt:lpstr>Assumptions, Dependencies, and Risks</vt:lpstr>
      <vt:lpstr>Commercials</vt:lpstr>
      <vt:lpstr>Decisions Needed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Chu, Catherine -ND</dc:creator>
  <cp:lastModifiedBy>Chu, Catherine -ND</cp:lastModifiedBy>
  <cp:revision>2</cp:revision>
  <dcterms:created xsi:type="dcterms:W3CDTF">2026-02-25T20:05:38Z</dcterms:created>
  <dcterms:modified xsi:type="dcterms:W3CDTF">2026-02-25T20:28:34Z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2e0584-010f-4004-8a6a-d5c118c8b4bd_Enabled">
    <vt:lpwstr>true</vt:lpwstr>
  </property>
  <property fmtid="{D5CDD505-2E9C-101B-9397-08002B2CF9AE}" pid="3" name="MSIP_Label_c62e0584-010f-4004-8a6a-d5c118c8b4bd_SetDate">
    <vt:lpwstr>2026-02-25T20:11:59Z</vt:lpwstr>
  </property>
  <property fmtid="{D5CDD505-2E9C-101B-9397-08002B2CF9AE}" pid="4" name="MSIP_Label_c62e0584-010f-4004-8a6a-d5c118c8b4bd_Method">
    <vt:lpwstr>Standard</vt:lpwstr>
  </property>
  <property fmtid="{D5CDD505-2E9C-101B-9397-08002B2CF9AE}" pid="5" name="MSIP_Label_c62e0584-010f-4004-8a6a-d5c118c8b4bd_Name">
    <vt:lpwstr>Internal</vt:lpwstr>
  </property>
  <property fmtid="{D5CDD505-2E9C-101B-9397-08002B2CF9AE}" pid="6" name="MSIP_Label_c62e0584-010f-4004-8a6a-d5c118c8b4bd_SiteId">
    <vt:lpwstr>56b731a8-a2ac-4c32-bf6b-616810e913c6</vt:lpwstr>
  </property>
  <property fmtid="{D5CDD505-2E9C-101B-9397-08002B2CF9AE}" pid="7" name="MSIP_Label_c62e0584-010f-4004-8a6a-d5c118c8b4bd_ActionId">
    <vt:lpwstr>4576530c-ab2c-4668-b854-436ec2714b94</vt:lpwstr>
  </property>
  <property fmtid="{D5CDD505-2E9C-101B-9397-08002B2CF9AE}" pid="8" name="MSIP_Label_c62e0584-010f-4004-8a6a-d5c118c8b4bd_ContentBits">
    <vt:lpwstr>0</vt:lpwstr>
  </property>
  <property fmtid="{D5CDD505-2E9C-101B-9397-08002B2CF9AE}" pid="9" name="MSIP_Label_c62e0584-010f-4004-8a6a-d5c118c8b4bd_Tag">
    <vt:lpwstr>50, 3, 0, 1</vt:lpwstr>
  </property>
</Properties>
</file>